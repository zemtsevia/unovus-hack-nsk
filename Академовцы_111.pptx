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8288000" cy="10287000"/>
  <p:notesSz cx="7559675" cy="10691813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7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09ED3E-78F4-4142-BA0E-8197132D22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E44EFB-3AF2-4ABE-8B38-58F0175933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4EA543-6AB4-4FEF-8E04-BC29C85280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D9DF3B-5306-4357-B5DA-5719A1E00F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16E685-9D8D-45D6-944E-4F3BA69200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F6AA73-558B-4B08-8388-68C0210413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FC5F19-EA64-4A3E-A08E-8D8ECC767A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AA1690-0D71-4135-AFAA-902D5E27FC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462F48-4417-4D2E-A833-4445F62307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B19EFD-919E-4D16-99EB-FE0414149A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2E11D9-BE7F-4379-856C-3DD2552304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1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3"/>
          <p:cNvSpPr/>
          <p:nvPr/>
        </p:nvSpPr>
        <p:spPr>
          <a:xfrm rot="16200000">
            <a:off x="11027880" y="3967200"/>
            <a:ext cx="7930080" cy="5853960"/>
          </a:xfrm>
          <a:custGeom>
            <a:avLst/>
            <a:gdLst>
              <a:gd name="textAreaLeft" fmla="*/ 0 w 7930080"/>
              <a:gd name="textAreaRight" fmla="*/ 7930440 w 7930080"/>
              <a:gd name="textAreaTop" fmla="*/ 0 h 5853960"/>
              <a:gd name="textAreaBottom" fmla="*/ 5854320 h 5853960"/>
            </a:gdLst>
            <a:ahLst/>
            <a:cxnLst/>
            <a:rect l="textAreaLeft" t="textAreaTop" r="textAreaRight" b="textAreaBottom"/>
            <a:pathLst>
              <a:path w="7930618" h="5854238">
                <a:moveTo>
                  <a:pt x="0" y="0"/>
                </a:moveTo>
                <a:lnTo>
                  <a:pt x="7930619" y="0"/>
                </a:lnTo>
                <a:lnTo>
                  <a:pt x="7930619" y="5854238"/>
                </a:lnTo>
                <a:lnTo>
                  <a:pt x="0" y="58542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Рисунок 59"/>
          <p:cNvPicPr/>
          <p:nvPr/>
        </p:nvPicPr>
        <p:blipFill>
          <a:blip r:embed="rId4"/>
          <a:stretch/>
        </p:blipFill>
        <p:spPr>
          <a:xfrm>
            <a:off x="0" y="360"/>
            <a:ext cx="182826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AutoShape 4"/>
          <p:cNvSpPr/>
          <p:nvPr/>
        </p:nvSpPr>
        <p:spPr>
          <a:xfrm>
            <a:off x="1028520" y="1656720"/>
            <a:ext cx="16230600" cy="36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AutoShape 5"/>
          <p:cNvSpPr/>
          <p:nvPr/>
        </p:nvSpPr>
        <p:spPr>
          <a:xfrm>
            <a:off x="1028520" y="8977680"/>
            <a:ext cx="16230600" cy="36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9"/>
          <p:cNvSpPr/>
          <p:nvPr/>
        </p:nvSpPr>
        <p:spPr>
          <a:xfrm>
            <a:off x="1028880" y="9210600"/>
            <a:ext cx="151700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640"/>
              </a:lnSpc>
            </a:pPr>
            <a:r>
              <a:rPr lang="en-US" sz="2600" b="1" u="none" strike="noStrike" spc="519">
                <a:solidFill>
                  <a:srgbClr val="FFFFFF"/>
                </a:solidFill>
                <a:effectLst/>
                <a:uFillTx/>
                <a:latin typeface="Libre Franklin Medium"/>
                <a:ea typeface="Libre Franklin Medium"/>
              </a:rPr>
              <a:t>КОМАНДА: АКАДЕМОВЦЫ</a:t>
            </a:r>
            <a:endParaRPr lang="ru-R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1"/>
          <p:cNvSpPr/>
          <p:nvPr/>
        </p:nvSpPr>
        <p:spPr>
          <a:xfrm>
            <a:off x="936000" y="3165840"/>
            <a:ext cx="13964400" cy="23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9306"/>
              </a:lnSpc>
            </a:pPr>
            <a:r>
              <a:rPr lang="en-US" sz="7760" b="0" u="none" strike="noStrike">
                <a:solidFill>
                  <a:srgbClr val="FFFFFF"/>
                </a:solidFill>
                <a:effectLst/>
                <a:uFillTx/>
                <a:latin typeface="Nekst"/>
                <a:ea typeface="Libre Franklin"/>
              </a:rPr>
              <a:t>СИСТЕМА ХАК: НОВОСИБИРСК</a:t>
            </a:r>
            <a:endParaRPr lang="ru-RU" sz="7760" b="0" u="none" strike="noStrike">
              <a:solidFill>
                <a:srgbClr val="FFFFFF"/>
              </a:solidFill>
              <a:effectLst/>
              <a:uFillTx/>
              <a:latin typeface="Nekst"/>
            </a:endParaRPr>
          </a:p>
        </p:txBody>
      </p:sp>
      <p:sp>
        <p:nvSpPr>
          <p:cNvPr id="65" name="TextBox 12"/>
          <p:cNvSpPr/>
          <p:nvPr/>
        </p:nvSpPr>
        <p:spPr>
          <a:xfrm>
            <a:off x="1028880" y="6252840"/>
            <a:ext cx="9634320" cy="25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433"/>
              </a:lnSpc>
            </a:pPr>
            <a:r>
              <a:rPr lang="en-US" sz="3700" b="0" i="1" u="none" strike="noStrike">
                <a:solidFill>
                  <a:srgbClr val="FFFFFF"/>
                </a:solidFill>
                <a:effectLst/>
                <a:uFillTx/>
                <a:latin typeface="Nekst Light"/>
                <a:ea typeface="Libre Franklin Italics"/>
              </a:rPr>
              <a:t>Кейс:</a:t>
            </a:r>
            <a:endParaRPr lang="ru-RU" sz="3700" b="0" u="none" strike="noStrike">
              <a:solidFill>
                <a:srgbClr val="FFFFFF"/>
              </a:solidFill>
              <a:effectLst/>
              <a:uFillTx/>
              <a:latin typeface="Nekst Light"/>
            </a:endParaRPr>
          </a:p>
          <a:p>
            <a:pPr defTabSz="914400">
              <a:lnSpc>
                <a:spcPts val="4433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700" b="0" i="1" u="none" strike="noStrike">
                <a:solidFill>
                  <a:srgbClr val="FFFFFF"/>
                </a:solidFill>
                <a:effectLst/>
                <a:uFillTx/>
                <a:latin typeface="Nekst Light"/>
                <a:ea typeface="Libre Franklin Italics"/>
              </a:rPr>
              <a:t>СДЭК: AI-инструмент для оценки выгорания сотрудников и партнёров</a:t>
            </a:r>
            <a:endParaRPr lang="ru-RU" sz="3700" b="1" u="none" strike="noStrike">
              <a:solidFill>
                <a:srgbClr val="FFFFFF"/>
              </a:solidFill>
              <a:effectLst/>
              <a:uFillTx/>
              <a:latin typeface="Nekst Light"/>
            </a:endParaRPr>
          </a:p>
          <a:p>
            <a:pPr defTabSz="914400">
              <a:lnSpc>
                <a:spcPts val="4433"/>
              </a:lnSpc>
              <a:spcBef>
                <a:spcPts val="1191"/>
              </a:spcBef>
              <a:spcAft>
                <a:spcPts val="992"/>
              </a:spcAft>
            </a:pPr>
            <a:endParaRPr lang="ru-RU" sz="3700" b="0" u="none" strike="noStrike">
              <a:solidFill>
                <a:srgbClr val="FFFFFF"/>
              </a:solidFill>
              <a:effectLst/>
              <a:uFillTx/>
              <a:latin typeface="Nekst Light"/>
            </a:endParaRPr>
          </a:p>
        </p:txBody>
      </p:sp>
      <p:sp>
        <p:nvSpPr>
          <p:cNvPr id="66" name="TextBox 13"/>
          <p:cNvSpPr/>
          <p:nvPr/>
        </p:nvSpPr>
        <p:spPr>
          <a:xfrm>
            <a:off x="1028880" y="990720"/>
            <a:ext cx="15170040" cy="39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078"/>
              </a:lnSpc>
            </a:pPr>
            <a:r>
              <a:rPr lang="en-US" sz="2200" b="1" u="none" strike="noStrike" spc="439">
                <a:solidFill>
                  <a:srgbClr val="FFFFFF"/>
                </a:solidFill>
                <a:effectLst/>
                <a:uFillTx/>
                <a:latin typeface="Libre Franklin Medium"/>
                <a:ea typeface="Libre Franklin Medium"/>
              </a:rPr>
              <a:t>16.11.2025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Рисунок 66"/>
          <p:cNvPicPr/>
          <p:nvPr/>
        </p:nvPicPr>
        <p:blipFill>
          <a:blip r:embed="rId5"/>
          <a:stretch/>
        </p:blipFill>
        <p:spPr>
          <a:xfrm>
            <a:off x="11673360" y="2340000"/>
            <a:ext cx="6506640" cy="65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Рисунок 67"/>
          <p:cNvPicPr/>
          <p:nvPr/>
        </p:nvPicPr>
        <p:blipFill>
          <a:blip r:embed="rId6"/>
          <a:stretch/>
        </p:blipFill>
        <p:spPr>
          <a:xfrm>
            <a:off x="5220000" y="389880"/>
            <a:ext cx="12804120" cy="1060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2"/>
          <p:cNvSpPr/>
          <p:nvPr/>
        </p:nvSpPr>
        <p:spPr>
          <a:xfrm>
            <a:off x="2388240" y="1955520"/>
            <a:ext cx="2003760" cy="2003760"/>
          </a:xfrm>
          <a:custGeom>
            <a:avLst/>
            <a:gdLst>
              <a:gd name="textAreaLeft" fmla="*/ 0 w 2003760"/>
              <a:gd name="textAreaRight" fmla="*/ 2004120 w 2003760"/>
              <a:gd name="textAreaTop" fmla="*/ 0 h 2003760"/>
              <a:gd name="textAreaBottom" fmla="*/ 2004120 h 2003760"/>
            </a:gdLst>
            <a:ahLst/>
            <a:cxnLst/>
            <a:rect l="textAreaLeft" t="textAreaTop" r="textAreaRight" b="textAreaBottom"/>
            <a:pathLst>
              <a:path w="2004145" h="2004145">
                <a:moveTo>
                  <a:pt x="0" y="0"/>
                </a:moveTo>
                <a:lnTo>
                  <a:pt x="2004145" y="0"/>
                </a:lnTo>
                <a:lnTo>
                  <a:pt x="2004145" y="2004145"/>
                </a:lnTo>
                <a:lnTo>
                  <a:pt x="0" y="2004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reeform 3"/>
          <p:cNvSpPr/>
          <p:nvPr/>
        </p:nvSpPr>
        <p:spPr>
          <a:xfrm>
            <a:off x="-66600" y="-8435880"/>
            <a:ext cx="18420840" cy="10467360"/>
          </a:xfrm>
          <a:custGeom>
            <a:avLst/>
            <a:gdLst>
              <a:gd name="textAreaLeft" fmla="*/ 0 w 18420840"/>
              <a:gd name="textAreaRight" fmla="*/ 18421200 w 18420840"/>
              <a:gd name="textAreaTop" fmla="*/ 0 h 10467360"/>
              <a:gd name="textAreaBottom" fmla="*/ 10467720 h 10467360"/>
            </a:gdLst>
            <a:ahLst/>
            <a:cxnLst/>
            <a:rect l="textAreaLeft" t="textAreaTop" r="textAreaRight" b="textAreaBottom"/>
            <a:pathLst>
              <a:path w="18421347" h="10467734">
                <a:moveTo>
                  <a:pt x="0" y="0"/>
                </a:moveTo>
                <a:lnTo>
                  <a:pt x="18421348" y="0"/>
                </a:lnTo>
                <a:lnTo>
                  <a:pt x="18421348" y="10467734"/>
                </a:lnTo>
                <a:lnTo>
                  <a:pt x="0" y="104677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Рисунок 70"/>
          <p:cNvPicPr/>
          <p:nvPr/>
        </p:nvPicPr>
        <p:blipFill>
          <a:blip r:embed="rId4"/>
          <a:stretch/>
        </p:blipFill>
        <p:spPr>
          <a:xfrm>
            <a:off x="-180000" y="-5143320"/>
            <a:ext cx="18720000" cy="717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Freeform 5"/>
          <p:cNvSpPr/>
          <p:nvPr/>
        </p:nvSpPr>
        <p:spPr>
          <a:xfrm rot="1091400">
            <a:off x="10522080" y="2055600"/>
            <a:ext cx="1938600" cy="1938600"/>
          </a:xfrm>
          <a:custGeom>
            <a:avLst/>
            <a:gdLst>
              <a:gd name="textAreaLeft" fmla="*/ 0 w 1938600"/>
              <a:gd name="textAreaRight" fmla="*/ 1938960 w 1938600"/>
              <a:gd name="textAreaTop" fmla="*/ 0 h 1938600"/>
              <a:gd name="textAreaBottom" fmla="*/ 1938960 h 1938600"/>
            </a:gdLst>
            <a:ahLst/>
            <a:cxnLst/>
            <a:rect l="textAreaLeft" t="textAreaTop" r="textAreaRight" b="textAreaBottom"/>
            <a:pathLst>
              <a:path w="1939085" h="1939085">
                <a:moveTo>
                  <a:pt x="0" y="0"/>
                </a:moveTo>
                <a:lnTo>
                  <a:pt x="1939085" y="0"/>
                </a:lnTo>
                <a:lnTo>
                  <a:pt x="1939085" y="1939085"/>
                </a:lnTo>
                <a:lnTo>
                  <a:pt x="0" y="19390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6"/>
          <p:cNvSpPr/>
          <p:nvPr/>
        </p:nvSpPr>
        <p:spPr>
          <a:xfrm>
            <a:off x="9932760" y="3751200"/>
            <a:ext cx="3140280" cy="3175200"/>
          </a:xfrm>
          <a:custGeom>
            <a:avLst/>
            <a:gdLst>
              <a:gd name="textAreaLeft" fmla="*/ 0 w 3140280"/>
              <a:gd name="textAreaRight" fmla="*/ 3140640 w 3140280"/>
              <a:gd name="textAreaTop" fmla="*/ 0 h 3175200"/>
              <a:gd name="textAreaBottom" fmla="*/ 3175560 h 3175200"/>
            </a:gdLst>
            <a:ahLst/>
            <a:cxnLst/>
            <a:rect l="textAreaLeft" t="textAreaTop" r="textAreaRight" b="textAreaBottom"/>
            <a:pathLst>
              <a:path w="3140809" h="3175687">
                <a:moveTo>
                  <a:pt x="0" y="0"/>
                </a:moveTo>
                <a:lnTo>
                  <a:pt x="3140809" y="0"/>
                </a:lnTo>
                <a:lnTo>
                  <a:pt x="3140809" y="3175686"/>
                </a:lnTo>
                <a:lnTo>
                  <a:pt x="0" y="317568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reeform 9"/>
          <p:cNvSpPr/>
          <p:nvPr/>
        </p:nvSpPr>
        <p:spPr>
          <a:xfrm>
            <a:off x="15937560" y="2211480"/>
            <a:ext cx="1539720" cy="1539720"/>
          </a:xfrm>
          <a:custGeom>
            <a:avLst/>
            <a:gdLst>
              <a:gd name="textAreaLeft" fmla="*/ 0 w 1539720"/>
              <a:gd name="textAreaRight" fmla="*/ 1540080 w 1539720"/>
              <a:gd name="textAreaTop" fmla="*/ 0 h 1539720"/>
              <a:gd name="textAreaBottom" fmla="*/ 1540080 h 1539720"/>
            </a:gdLst>
            <a:ahLst/>
            <a:cxnLst/>
            <a:rect l="textAreaLeft" t="textAreaTop" r="textAreaRight" b="textAreaBottom"/>
            <a:pathLst>
              <a:path w="1540038" h="1540038">
                <a:moveTo>
                  <a:pt x="0" y="0"/>
                </a:moveTo>
                <a:lnTo>
                  <a:pt x="1540038" y="0"/>
                </a:lnTo>
                <a:lnTo>
                  <a:pt x="1540038" y="1540038"/>
                </a:lnTo>
                <a:lnTo>
                  <a:pt x="0" y="15400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Freeform 10"/>
          <p:cNvSpPr/>
          <p:nvPr/>
        </p:nvSpPr>
        <p:spPr>
          <a:xfrm>
            <a:off x="14397480" y="3691440"/>
            <a:ext cx="3079800" cy="3213720"/>
          </a:xfrm>
          <a:custGeom>
            <a:avLst/>
            <a:gdLst>
              <a:gd name="textAreaLeft" fmla="*/ 0 w 3079800"/>
              <a:gd name="textAreaRight" fmla="*/ 3080160 w 3079800"/>
              <a:gd name="textAreaTop" fmla="*/ 0 h 3213720"/>
              <a:gd name="textAreaBottom" fmla="*/ 3214080 h 3213720"/>
            </a:gdLst>
            <a:ahLst/>
            <a:cxnLst/>
            <a:rect l="textAreaLeft" t="textAreaTop" r="textAreaRight" b="textAreaBottom"/>
            <a:pathLst>
              <a:path w="3080076" h="3213969">
                <a:moveTo>
                  <a:pt x="0" y="0"/>
                </a:moveTo>
                <a:lnTo>
                  <a:pt x="3080076" y="0"/>
                </a:lnTo>
                <a:lnTo>
                  <a:pt x="3080076" y="3213969"/>
                </a:lnTo>
                <a:lnTo>
                  <a:pt x="0" y="32139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3099600" y="434880"/>
            <a:ext cx="12088080" cy="11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9405"/>
              </a:lnSpc>
            </a:pPr>
            <a:r>
              <a:rPr lang="en-US" sz="7830" b="1" u="none" strike="noStrike">
                <a:solidFill>
                  <a:srgbClr val="FFFFFF"/>
                </a:solidFill>
                <a:effectLst/>
                <a:uFillTx/>
                <a:latin typeface="Nekst Black"/>
                <a:ea typeface="Libre Franklin Bold"/>
              </a:rPr>
              <a:t>НАША КОМАНДА</a:t>
            </a:r>
            <a:endParaRPr lang="ru-RU" sz="7830" b="0" u="none" strike="noStrike">
              <a:solidFill>
                <a:srgbClr val="000000"/>
              </a:solidFill>
              <a:effectLst/>
              <a:uFillTx/>
              <a:latin typeface="Nekst Black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-898560" y="8549280"/>
            <a:ext cx="2889360" cy="22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7719"/>
              </a:lnSpc>
            </a:pPr>
            <a:r>
              <a:rPr lang="en-US" sz="14770" b="1" u="none" strike="noStrike">
                <a:solidFill>
                  <a:srgbClr val="3E2C5C">
                    <a:alpha val="52000"/>
                  </a:srgbClr>
                </a:solidFill>
                <a:effectLst/>
                <a:uFillTx/>
                <a:latin typeface="Libre Franklin Bold"/>
                <a:ea typeface="Libre Franklin Bold"/>
              </a:rPr>
              <a:t>2</a:t>
            </a:r>
            <a:endParaRPr lang="ru-RU" sz="14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-2060280" y="7231320"/>
            <a:ext cx="9634320" cy="84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28"/>
              </a:lnSpc>
            </a:pPr>
            <a:r>
              <a:rPr lang="en-US" sz="2890" b="1" u="none" strike="noStrike">
                <a:solidFill>
                  <a:srgbClr val="3E2C5C"/>
                </a:solidFill>
                <a:effectLst/>
                <a:uFillTx/>
                <a:latin typeface="Libre Franklin Bold"/>
                <a:ea typeface="Libre Franklin Bold"/>
              </a:rPr>
              <a:t>Павел</a:t>
            </a:r>
            <a:endParaRPr lang="ru-RU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328"/>
              </a:lnSpc>
            </a:pPr>
            <a:r>
              <a:rPr lang="en-US" sz="2890" b="1" u="none" strike="noStrike">
                <a:solidFill>
                  <a:srgbClr val="3E2C5C"/>
                </a:solidFill>
                <a:effectLst/>
                <a:uFillTx/>
                <a:latin typeface="Libre Franklin Bold"/>
                <a:ea typeface="Libre Franklin Bold"/>
              </a:rPr>
              <a:t>Разбойников</a:t>
            </a:r>
            <a:endParaRPr lang="ru-RU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4"/>
          <p:cNvSpPr/>
          <p:nvPr/>
        </p:nvSpPr>
        <p:spPr>
          <a:xfrm>
            <a:off x="-2060280" y="8196840"/>
            <a:ext cx="9634320" cy="37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982"/>
              </a:lnSpc>
            </a:pPr>
            <a:r>
              <a:rPr lang="en-US" sz="2590" b="0" u="none" strike="noStrike">
                <a:solidFill>
                  <a:srgbClr val="3E2C5C"/>
                </a:solidFill>
                <a:effectLst/>
                <a:uFillTx/>
                <a:latin typeface="Libre Franklin"/>
                <a:ea typeface="Libre Franklin"/>
              </a:rPr>
              <a:t>DevOps, дизайнер</a:t>
            </a:r>
            <a:endParaRPr lang="ru-RU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5"/>
          <p:cNvSpPr/>
          <p:nvPr/>
        </p:nvSpPr>
        <p:spPr>
          <a:xfrm>
            <a:off x="2430000" y="7458120"/>
            <a:ext cx="9634320" cy="6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17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90" b="1" u="none" strike="noStrike">
                <a:solidFill>
                  <a:srgbClr val="3E2C5C"/>
                </a:solidFill>
                <a:effectLst/>
                <a:uFillTx/>
                <a:latin typeface="Libre Franklin Bold"/>
                <a:ea typeface="Libre Franklin Bold"/>
              </a:rPr>
              <a:t>Никита </a:t>
            </a:r>
            <a:endParaRPr lang="ru-RU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17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90" b="1" u="none" strike="noStrike">
                <a:solidFill>
                  <a:srgbClr val="3E2C5C"/>
                </a:solidFill>
                <a:effectLst/>
                <a:uFillTx/>
                <a:latin typeface="Libre Franklin Bold"/>
                <a:ea typeface="Libre Franklin Bold"/>
              </a:rPr>
              <a:t>Малейченко </a:t>
            </a:r>
            <a:endParaRPr lang="ru-RU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6"/>
          <p:cNvSpPr/>
          <p:nvPr/>
        </p:nvSpPr>
        <p:spPr>
          <a:xfrm>
            <a:off x="2388240" y="8207640"/>
            <a:ext cx="9634320" cy="75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982"/>
              </a:lnSpc>
            </a:pPr>
            <a:r>
              <a:rPr lang="en-US" sz="2590" b="0" u="none" strike="noStrike">
                <a:solidFill>
                  <a:srgbClr val="3E2C5C"/>
                </a:solidFill>
                <a:effectLst/>
                <a:uFillTx/>
                <a:latin typeface="Libre Franklin"/>
                <a:ea typeface="Libre Franklin"/>
              </a:rPr>
              <a:t>Аналитик,</a:t>
            </a:r>
            <a:endParaRPr lang="ru-RU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982"/>
              </a:lnSpc>
            </a:pPr>
            <a:r>
              <a:rPr lang="en-US" sz="2590" b="0" u="none" strike="noStrike">
                <a:solidFill>
                  <a:srgbClr val="3E2C5C"/>
                </a:solidFill>
                <a:effectLst/>
                <a:uFillTx/>
                <a:latin typeface="Libre Franklin"/>
                <a:ea typeface="Libre Franklin"/>
              </a:rPr>
              <a:t>ИИ-Автоматизатор</a:t>
            </a:r>
            <a:endParaRPr lang="ru-RU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7"/>
          <p:cNvSpPr/>
          <p:nvPr/>
        </p:nvSpPr>
        <p:spPr>
          <a:xfrm>
            <a:off x="6685920" y="7252920"/>
            <a:ext cx="9634320" cy="84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28"/>
              </a:lnSpc>
            </a:pPr>
            <a:r>
              <a:rPr lang="en-US" sz="2890" b="1" u="none" strike="noStrike">
                <a:solidFill>
                  <a:srgbClr val="3E2C5C"/>
                </a:solidFill>
                <a:effectLst/>
                <a:uFillTx/>
                <a:latin typeface="Libre Franklin Bold"/>
                <a:ea typeface="Libre Franklin Bold"/>
              </a:rPr>
              <a:t>Иван</a:t>
            </a:r>
            <a:endParaRPr lang="ru-RU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328"/>
              </a:lnSpc>
            </a:pPr>
            <a:r>
              <a:rPr lang="en-US" sz="2890" b="1" u="none" strike="noStrike">
                <a:solidFill>
                  <a:srgbClr val="3E2C5C"/>
                </a:solidFill>
                <a:effectLst/>
                <a:uFillTx/>
                <a:latin typeface="Libre Franklin Bold"/>
                <a:ea typeface="Libre Franklin Bold"/>
              </a:rPr>
              <a:t>Земцев</a:t>
            </a:r>
            <a:endParaRPr lang="ru-RU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8"/>
          <p:cNvSpPr/>
          <p:nvPr/>
        </p:nvSpPr>
        <p:spPr>
          <a:xfrm>
            <a:off x="6685920" y="8218440"/>
            <a:ext cx="96343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982"/>
              </a:lnSpc>
            </a:pPr>
            <a:r>
              <a:rPr lang="en-US" sz="2590" b="0" u="none" strike="noStrike">
                <a:solidFill>
                  <a:srgbClr val="3E2C5C"/>
                </a:solidFill>
                <a:effectLst/>
                <a:uFillTx/>
                <a:latin typeface="Libre Franklin"/>
                <a:ea typeface="Libre Franklin"/>
              </a:rPr>
              <a:t>Frontend разработчик</a:t>
            </a:r>
            <a:endParaRPr lang="ru-RU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9"/>
          <p:cNvSpPr/>
          <p:nvPr/>
        </p:nvSpPr>
        <p:spPr>
          <a:xfrm>
            <a:off x="10941840" y="7252920"/>
            <a:ext cx="9634320" cy="84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28"/>
              </a:lnSpc>
            </a:pPr>
            <a:r>
              <a:rPr lang="en-US" sz="2890" b="1" u="none" strike="noStrike">
                <a:solidFill>
                  <a:srgbClr val="3E2C5C"/>
                </a:solidFill>
                <a:effectLst/>
                <a:uFillTx/>
                <a:latin typeface="Libre Franklin Bold"/>
                <a:ea typeface="Libre Franklin Bold"/>
              </a:rPr>
              <a:t>Максим</a:t>
            </a:r>
            <a:endParaRPr lang="ru-RU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328"/>
              </a:lnSpc>
            </a:pPr>
            <a:r>
              <a:rPr lang="en-US" sz="2890" b="1" u="none" strike="noStrike">
                <a:solidFill>
                  <a:srgbClr val="3E2C5C"/>
                </a:solidFill>
                <a:effectLst/>
                <a:uFillTx/>
                <a:latin typeface="Libre Franklin Bold"/>
                <a:ea typeface="Libre Franklin Bold"/>
              </a:rPr>
              <a:t>Щилько</a:t>
            </a:r>
            <a:endParaRPr lang="ru-RU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10941840" y="8218440"/>
            <a:ext cx="9634320" cy="74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982"/>
              </a:lnSpc>
            </a:pPr>
            <a:r>
              <a:rPr lang="en-US" sz="2590" b="0" u="none" strike="noStrike">
                <a:solidFill>
                  <a:srgbClr val="3E2C5C"/>
                </a:solidFill>
                <a:effectLst/>
                <a:uFillTx/>
                <a:latin typeface="Libre Franklin"/>
                <a:ea typeface="Libre Franklin"/>
              </a:rPr>
              <a:t>ML,</a:t>
            </a:r>
            <a:endParaRPr lang="ru-RU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982"/>
              </a:lnSpc>
            </a:pPr>
            <a:r>
              <a:rPr lang="en-US" sz="2590" b="0" u="none" strike="noStrike">
                <a:solidFill>
                  <a:srgbClr val="3E2C5C"/>
                </a:solidFill>
                <a:effectLst/>
                <a:uFillTx/>
                <a:latin typeface="Libre Franklin"/>
                <a:ea typeface="Libre Franklin"/>
              </a:rPr>
              <a:t>Backend разработчик</a:t>
            </a:r>
            <a:endParaRPr lang="ru-RU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Рисунок 85"/>
          <p:cNvPicPr/>
          <p:nvPr/>
        </p:nvPicPr>
        <p:blipFill>
          <a:blip r:embed="rId9"/>
          <a:stretch/>
        </p:blipFill>
        <p:spPr>
          <a:xfrm>
            <a:off x="1440000" y="3708000"/>
            <a:ext cx="3027240" cy="319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Рисунок 86"/>
          <p:cNvPicPr/>
          <p:nvPr/>
        </p:nvPicPr>
        <p:blipFill>
          <a:blip r:embed="rId10"/>
          <a:stretch/>
        </p:blipFill>
        <p:spPr>
          <a:xfrm>
            <a:off x="6660000" y="2332080"/>
            <a:ext cx="1720080" cy="164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Рисунок 87"/>
          <p:cNvPicPr/>
          <p:nvPr/>
        </p:nvPicPr>
        <p:blipFill>
          <a:blip r:embed="rId11"/>
          <a:stretch/>
        </p:blipFill>
        <p:spPr>
          <a:xfrm>
            <a:off x="5796000" y="3715560"/>
            <a:ext cx="3025080" cy="3196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Рисунок 88"/>
          <p:cNvPicPr/>
          <p:nvPr/>
        </p:nvPicPr>
        <p:blipFill>
          <a:blip r:embed="rId2"/>
          <a:stretch/>
        </p:blipFill>
        <p:spPr>
          <a:xfrm>
            <a:off x="-11814480" y="0"/>
            <a:ext cx="182826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4"/>
          <p:cNvSpPr/>
          <p:nvPr/>
        </p:nvSpPr>
        <p:spPr>
          <a:xfrm>
            <a:off x="-2520000" y="1210680"/>
            <a:ext cx="1124172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8745"/>
              </a:lnSpc>
            </a:pPr>
            <a:r>
              <a:rPr lang="en-US" sz="8000" b="1" u="none" strike="noStrike">
                <a:solidFill>
                  <a:srgbClr val="FFFFFF"/>
                </a:solidFill>
                <a:effectLst/>
                <a:uFillTx/>
                <a:latin typeface="Nekst Black"/>
                <a:ea typeface="Libre Franklin Bold"/>
              </a:rPr>
              <a:t>ПРОБЛЕМА</a:t>
            </a:r>
            <a:endParaRPr lang="ru-RU" sz="8000" b="0" u="none" strike="noStrike">
              <a:solidFill>
                <a:srgbClr val="000000"/>
              </a:solidFill>
              <a:effectLst/>
              <a:uFillTx/>
              <a:latin typeface="Nekst Black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16239240" y="8529840"/>
            <a:ext cx="2889360" cy="22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7719"/>
              </a:lnSpc>
            </a:pPr>
            <a:r>
              <a:rPr lang="en-US" sz="14770" b="1" u="none" strike="noStrike">
                <a:solidFill>
                  <a:srgbClr val="3E2C5C">
                    <a:alpha val="52000"/>
                  </a:srgbClr>
                </a:solidFill>
                <a:effectLst/>
                <a:uFillTx/>
                <a:latin typeface="Libre Franklin Bold"/>
                <a:ea typeface="Libre Franklin Bold"/>
              </a:rPr>
              <a:t>3</a:t>
            </a:r>
            <a:endParaRPr lang="ru-RU" sz="14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6840000" y="1252800"/>
            <a:ext cx="10980000" cy="588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800" b="1" u="none" strike="noStrike">
                <a:solidFill>
                  <a:srgbClr val="158466"/>
                </a:solidFill>
                <a:effectLst/>
                <a:uFillTx/>
                <a:latin typeface="Nekst"/>
                <a:ea typeface="Libre Franklin Semi-Bold"/>
              </a:rPr>
              <a:t>		Отсутствует инструмент для своевременного выявления и профилактики профессионального выгорания у сотрудников и партнёров СДЭК, что ведёт к снижению продуктивности и росту текучести кадров. </a:t>
            </a:r>
            <a:endParaRPr lang="ru-RU" sz="4800" b="0" u="none" strike="noStrike">
              <a:solidFill>
                <a:srgbClr val="158466"/>
              </a:solidFill>
              <a:effectLst/>
              <a:uFillTx/>
              <a:latin typeface="Nekst"/>
            </a:endParaRPr>
          </a:p>
        </p:txBody>
      </p:sp>
      <p:pic>
        <p:nvPicPr>
          <p:cNvPr id="93" name="Рисунок 92"/>
          <p:cNvPicPr/>
          <p:nvPr/>
        </p:nvPicPr>
        <p:blipFill>
          <a:blip r:embed="rId3"/>
          <a:stretch/>
        </p:blipFill>
        <p:spPr>
          <a:xfrm>
            <a:off x="-15120" y="3615840"/>
            <a:ext cx="6315120" cy="6671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Рисунок 93"/>
          <p:cNvPicPr/>
          <p:nvPr/>
        </p:nvPicPr>
        <p:blipFill>
          <a:blip r:embed="rId2"/>
          <a:stretch/>
        </p:blipFill>
        <p:spPr>
          <a:xfrm>
            <a:off x="0" y="0"/>
            <a:ext cx="182826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8"/>
          <p:cNvSpPr/>
          <p:nvPr/>
        </p:nvSpPr>
        <p:spPr>
          <a:xfrm>
            <a:off x="16239240" y="8482320"/>
            <a:ext cx="2889360" cy="22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7719"/>
              </a:lnSpc>
            </a:pPr>
            <a:r>
              <a:rPr lang="en-US" sz="14770" b="1" u="none" strike="noStrike">
                <a:solidFill>
                  <a:srgbClr val="FFFFFF">
                    <a:alpha val="52000"/>
                  </a:srgbClr>
                </a:solidFill>
                <a:effectLst/>
                <a:uFillTx/>
                <a:latin typeface="Libre Franklin Bold"/>
                <a:ea typeface="Libre Franklin Bold"/>
              </a:rPr>
              <a:t>4</a:t>
            </a:r>
            <a:endParaRPr lang="ru-RU" sz="14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20000" y="720000"/>
            <a:ext cx="9360000" cy="23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1000" b="0" u="none" strike="noStrike" dirty="0">
                <a:solidFill>
                  <a:srgbClr val="FFFFFF"/>
                </a:solidFill>
                <a:effectLst/>
                <a:uFillTx/>
                <a:latin typeface="Nekst Black"/>
              </a:rPr>
              <a:t>АНАЛИТИКА</a:t>
            </a:r>
          </a:p>
        </p:txBody>
      </p:sp>
      <p:pic>
        <p:nvPicPr>
          <p:cNvPr id="97" name="Рисунок 96"/>
          <p:cNvPicPr/>
          <p:nvPr/>
        </p:nvPicPr>
        <p:blipFill>
          <a:blip r:embed="rId3"/>
          <a:stretch/>
        </p:blipFill>
        <p:spPr>
          <a:xfrm>
            <a:off x="12600000" y="105480"/>
            <a:ext cx="5682960" cy="56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85321307-AD57-3378-9D50-0752B8BA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00" y="2527220"/>
            <a:ext cx="118987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До </a:t>
            </a:r>
            <a:r>
              <a:rPr kumimoji="0" lang="ru-KZ" altLang="ru-KZ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54% сотрудников в России</a:t>
            </a:r>
            <a:r>
              <a:rPr kumimoji="0" lang="ru-KZ" altLang="ru-KZ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демонстрируют признаки выгорания.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До </a:t>
            </a:r>
            <a:r>
              <a:rPr kumimoji="0" lang="ru-KZ" altLang="ru-KZ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72%</a:t>
            </a:r>
            <a:r>
              <a:rPr kumimoji="0" lang="ru-KZ" altLang="ru-KZ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сталкиваются с эмоциональным истощением и снижением вовлечённости.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 IT-и сервисных компаниях показатель достигает </a:t>
            </a:r>
            <a:r>
              <a:rPr kumimoji="0" lang="ru-KZ" altLang="ru-KZ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58–60%</a:t>
            </a:r>
            <a:r>
              <a:rPr kumimoji="0" lang="ru-KZ" altLang="ru-KZ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A3974C4-C1F6-05E2-0C0F-D517EE81A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00" y="6596598"/>
            <a:ext cx="14249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Выгорание приводит к ошибкам, падению качества сервиса и росту текучести.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Глобальные потери компаний оцениваются в </a:t>
            </a:r>
            <a:r>
              <a:rPr kumimoji="0" lang="ru-KZ" altLang="ru-KZ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$300+ млрд</a:t>
            </a:r>
            <a:r>
              <a:rPr kumimoji="0" lang="ru-KZ" altLang="ru-KZ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ежегодно.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Рисунок 97"/>
          <p:cNvPicPr/>
          <p:nvPr/>
        </p:nvPicPr>
        <p:blipFill>
          <a:blip r:embed="rId2"/>
          <a:stretch/>
        </p:blipFill>
        <p:spPr>
          <a:xfrm>
            <a:off x="360" y="360"/>
            <a:ext cx="182826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7"/>
          <p:cNvSpPr/>
          <p:nvPr/>
        </p:nvSpPr>
        <p:spPr>
          <a:xfrm>
            <a:off x="-898560" y="8549280"/>
            <a:ext cx="2889360" cy="22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7719"/>
              </a:lnSpc>
            </a:pPr>
            <a:r>
              <a:rPr lang="en-US" sz="14770" b="1" u="none" strike="noStrike">
                <a:solidFill>
                  <a:srgbClr val="3E2C5C">
                    <a:alpha val="52000"/>
                  </a:srgbClr>
                </a:solidFill>
                <a:effectLst/>
                <a:uFillTx/>
                <a:latin typeface="Libre Franklin Bold"/>
                <a:ea typeface="Libre Franklin Bold"/>
              </a:rPr>
              <a:t>5</a:t>
            </a:r>
            <a:endParaRPr lang="ru-RU" sz="14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20000" y="720000"/>
            <a:ext cx="12240000" cy="288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1000" b="0" u="none" strike="noStrike">
                <a:solidFill>
                  <a:srgbClr val="FFFFFF"/>
                </a:solidFill>
                <a:effectLst/>
                <a:uFillTx/>
                <a:latin typeface="Nekst Black"/>
              </a:rPr>
              <a:t>ГЕЙМИФИКАЦИЯ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AEC783-09F0-6172-9D87-53841E428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018" y="2872503"/>
            <a:ext cx="4203243" cy="5273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2"/>
          <p:cNvSpPr/>
          <p:nvPr/>
        </p:nvSpPr>
        <p:spPr>
          <a:xfrm>
            <a:off x="-898560" y="8549280"/>
            <a:ext cx="2889360" cy="22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7719"/>
              </a:lnSpc>
            </a:pPr>
            <a:r>
              <a:rPr lang="en-US" sz="14770" b="1" u="none" strike="noStrike">
                <a:solidFill>
                  <a:srgbClr val="3E2C5C">
                    <a:alpha val="52000"/>
                  </a:srgbClr>
                </a:solidFill>
                <a:effectLst/>
                <a:uFillTx/>
                <a:latin typeface="Libre Franklin Bold"/>
                <a:ea typeface="Libre Franklin Bold"/>
              </a:rPr>
              <a:t>6</a:t>
            </a:r>
            <a:endParaRPr lang="ru-RU" sz="14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AutoShape 3"/>
          <p:cNvSpPr/>
          <p:nvPr/>
        </p:nvSpPr>
        <p:spPr>
          <a:xfrm>
            <a:off x="1028520" y="9650520"/>
            <a:ext cx="16230600" cy="360"/>
          </a:xfrm>
          <a:prstGeom prst="line">
            <a:avLst/>
          </a:prstGeom>
          <a:ln w="9525">
            <a:solidFill>
              <a:srgbClr val="4B1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AutoShape 4"/>
          <p:cNvSpPr/>
          <p:nvPr/>
        </p:nvSpPr>
        <p:spPr>
          <a:xfrm>
            <a:off x="1028520" y="1809720"/>
            <a:ext cx="16230600" cy="360"/>
          </a:xfrm>
          <a:prstGeom prst="line">
            <a:avLst/>
          </a:prstGeom>
          <a:ln w="9525">
            <a:solidFill>
              <a:srgbClr val="4B1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4212360" y="542880"/>
            <a:ext cx="9862920" cy="97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73"/>
              </a:lnSpc>
            </a:pPr>
            <a:r>
              <a:rPr lang="en-US" sz="6390" b="1" u="none" strike="noStrike">
                <a:solidFill>
                  <a:srgbClr val="158466"/>
                </a:solidFill>
                <a:effectLst/>
                <a:uFillTx/>
                <a:latin typeface="Nekst Black"/>
                <a:ea typeface="Libre Franklin Bold"/>
              </a:rPr>
              <a:t>ПОПРОБУЙ САМ!</a:t>
            </a:r>
            <a:endParaRPr lang="ru-RU" sz="6390" b="0" u="none" strike="noStrike">
              <a:solidFill>
                <a:srgbClr val="158466"/>
              </a:solidFill>
              <a:effectLst/>
              <a:uFillTx/>
              <a:latin typeface="Nekst Black"/>
            </a:endParaRPr>
          </a:p>
        </p:txBody>
      </p:sp>
      <p:pic>
        <p:nvPicPr>
          <p:cNvPr id="105" name="Рисунок 104"/>
          <p:cNvPicPr/>
          <p:nvPr/>
        </p:nvPicPr>
        <p:blipFill>
          <a:blip r:embed="rId2"/>
          <a:stretch/>
        </p:blipFill>
        <p:spPr>
          <a:xfrm>
            <a:off x="13140000" y="2160000"/>
            <a:ext cx="7020000" cy="70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Рисунок 105"/>
          <p:cNvPicPr/>
          <p:nvPr/>
        </p:nvPicPr>
        <p:blipFill>
          <a:blip r:embed="rId3"/>
          <a:stretch/>
        </p:blipFill>
        <p:spPr>
          <a:xfrm>
            <a:off x="5400000" y="1980000"/>
            <a:ext cx="7592760" cy="7592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1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Рисунок 106"/>
          <p:cNvPicPr/>
          <p:nvPr/>
        </p:nvPicPr>
        <p:blipFill>
          <a:blip r:embed="rId2"/>
          <a:stretch/>
        </p:blipFill>
        <p:spPr>
          <a:xfrm>
            <a:off x="720" y="360"/>
            <a:ext cx="182826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8"/>
          <p:cNvSpPr/>
          <p:nvPr/>
        </p:nvSpPr>
        <p:spPr>
          <a:xfrm>
            <a:off x="16239240" y="8482320"/>
            <a:ext cx="2889360" cy="22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7719"/>
              </a:lnSpc>
            </a:pPr>
            <a:r>
              <a:rPr lang="en-US" sz="14770" b="1" u="none" strike="noStrike">
                <a:solidFill>
                  <a:srgbClr val="FFFFFF">
                    <a:alpha val="52000"/>
                  </a:srgbClr>
                </a:solidFill>
                <a:effectLst/>
                <a:uFillTx/>
                <a:latin typeface="Libre Franklin Bold"/>
                <a:ea typeface="Libre Franklin Bold"/>
              </a:rPr>
              <a:t>7</a:t>
            </a:r>
            <a:endParaRPr lang="ru-RU" sz="14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20000" y="692640"/>
            <a:ext cx="12240000" cy="288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1000" b="0" u="none" strike="noStrike">
                <a:solidFill>
                  <a:srgbClr val="FFFFFF"/>
                </a:solidFill>
                <a:effectLst/>
                <a:uFillTx/>
                <a:latin typeface="Nekst Black"/>
              </a:rPr>
              <a:t>АРХИТЕКТУРА</a:t>
            </a:r>
          </a:p>
        </p:txBody>
      </p:sp>
      <p:pic>
        <p:nvPicPr>
          <p:cNvPr id="110" name="Рисунок 109"/>
          <p:cNvPicPr/>
          <p:nvPr/>
        </p:nvPicPr>
        <p:blipFill>
          <a:blip r:embed="rId3"/>
          <a:stretch/>
        </p:blipFill>
        <p:spPr>
          <a:xfrm>
            <a:off x="-463320" y="1080000"/>
            <a:ext cx="18103320" cy="10286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1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Рисунок 119"/>
          <p:cNvPicPr/>
          <p:nvPr/>
        </p:nvPicPr>
        <p:blipFill>
          <a:blip r:embed="rId2"/>
          <a:stretch/>
        </p:blipFill>
        <p:spPr>
          <a:xfrm>
            <a:off x="720" y="360"/>
            <a:ext cx="18282600" cy="102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Рисунок 120"/>
          <p:cNvPicPr/>
          <p:nvPr/>
        </p:nvPicPr>
        <p:blipFill>
          <a:blip r:embed="rId3"/>
          <a:stretch/>
        </p:blipFill>
        <p:spPr>
          <a:xfrm>
            <a:off x="9843840" y="2700000"/>
            <a:ext cx="7562880" cy="756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6"/>
          <p:cNvSpPr/>
          <p:nvPr/>
        </p:nvSpPr>
        <p:spPr>
          <a:xfrm>
            <a:off x="1058400" y="2700000"/>
            <a:ext cx="15861600" cy="138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0865"/>
              </a:lnSpc>
            </a:pPr>
            <a:r>
              <a:rPr lang="en-US" sz="9050" b="1" u="none" strike="noStrike">
                <a:solidFill>
                  <a:srgbClr val="FFFFFF"/>
                </a:solidFill>
                <a:effectLst/>
                <a:uFillTx/>
                <a:latin typeface="Nekst Black"/>
                <a:ea typeface="Libre Franklin Semi-Bold"/>
              </a:rPr>
              <a:t>СПАСИБО ЗА ВНИМАНИЕ!</a:t>
            </a:r>
            <a:endParaRPr lang="ru-RU" sz="9050" b="0" u="none" strike="noStrike">
              <a:solidFill>
                <a:srgbClr val="FFFFFF"/>
              </a:solidFill>
              <a:effectLst/>
              <a:uFillTx/>
              <a:latin typeface="Nekst Black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1084320" y="5839200"/>
            <a:ext cx="13964400" cy="118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9306"/>
              </a:lnSpc>
            </a:pPr>
            <a:r>
              <a:rPr lang="en-US" sz="7760" b="0" u="none" strike="noStrike">
                <a:solidFill>
                  <a:srgbClr val="FFFFFF"/>
                </a:solidFill>
                <a:effectLst/>
                <a:uFillTx/>
                <a:latin typeface="Nekst"/>
                <a:ea typeface="Libre Franklin"/>
              </a:rPr>
              <a:t>Ваши вопросы?</a:t>
            </a:r>
            <a:endParaRPr lang="ru-RU" sz="7760" b="0" u="none" strike="noStrike">
              <a:solidFill>
                <a:srgbClr val="FFFFFF"/>
              </a:solidFill>
              <a:effectLst/>
              <a:uFillTx/>
              <a:latin typeface="Nek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140</Words>
  <Application>Microsoft Office PowerPoint</Application>
  <PresentationFormat>Произвольный</PresentationFormat>
  <Paragraphs>39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20" baseType="lpstr">
      <vt:lpstr>Arial</vt:lpstr>
      <vt:lpstr>Calibri</vt:lpstr>
      <vt:lpstr>Libre Franklin</vt:lpstr>
      <vt:lpstr>Libre Franklin Bold</vt:lpstr>
      <vt:lpstr>Libre Franklin Medium</vt:lpstr>
      <vt:lpstr>Nekst</vt:lpstr>
      <vt:lpstr>Nekst Black</vt:lpstr>
      <vt:lpstr>Nekst Light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Академовцы - презентация для защиты</dc:title>
  <dc:subject/>
  <dc:creator>abUser</dc:creator>
  <dc:description/>
  <cp:lastModifiedBy>abUser</cp:lastModifiedBy>
  <cp:revision>9</cp:revision>
  <dcterms:created xsi:type="dcterms:W3CDTF">2006-08-16T00:00:00Z</dcterms:created>
  <dcterms:modified xsi:type="dcterms:W3CDTF">2025-11-16T04:57:56Z</dcterms:modified>
  <dc:identifier>DAGoJUKOYfs</dc:identifier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